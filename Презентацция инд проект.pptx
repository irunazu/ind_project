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4882"/>
    <a:srgbClr val="373871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4364" autoAdjust="0"/>
  </p:normalViewPr>
  <p:slideViewPr>
    <p:cSldViewPr>
      <p:cViewPr varScale="1">
        <p:scale>
          <a:sx n="74" d="100"/>
          <a:sy n="74" d="100"/>
        </p:scale>
        <p:origin x="739" y="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DCF23-F50E-4128-AC1B-BBD76690F2D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E1E4D-C99A-4676-B715-E5B0CD16F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54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72C3-E150-4F1A-97C9-E799A330855C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Box 6"/>
          <p:cNvSpPr txBox="1"/>
          <p:nvPr userDrawn="1"/>
        </p:nvSpPr>
        <p:spPr>
          <a:xfrm>
            <a:off x="1787488" y="123478"/>
            <a:ext cx="556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 smtClean="0">
                <a:solidFill>
                  <a:srgbClr val="364882"/>
                </a:solidFill>
                <a:latin typeface="+mn-lt"/>
              </a:rPr>
              <a:t>Государственное автономное профессиональное образовательное учреждение «Альметьевский политехнический техникум»</a:t>
            </a:r>
            <a:endParaRPr lang="ru-RU" sz="1400" b="1" i="0" dirty="0">
              <a:solidFill>
                <a:srgbClr val="364882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588224" y="4767263"/>
            <a:ext cx="2133600" cy="273844"/>
          </a:xfrm>
        </p:spPr>
        <p:txBody>
          <a:bodyPr/>
          <a:lstStyle/>
          <a:p>
            <a:fld id="{1D7E122A-7143-4069-89A5-60B874753E5C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94184" y="4767263"/>
            <a:ext cx="2133600" cy="273844"/>
          </a:xfrm>
        </p:spPr>
        <p:txBody>
          <a:bodyPr/>
          <a:lstStyle>
            <a:lvl1pPr algn="l">
              <a:defRPr b="1"/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66B2-6B0E-430C-BBE9-1F1419176BE7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1E97-2777-46B3-B562-D8C21C08EBC6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18B-3796-4052-AB8A-4E2191368DAD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291C-DA64-468A-834B-6EB40970A643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1315-E087-4809-8E66-9BD6E5F2D5CC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8A4B-53EF-4AFB-817A-E2A8E806D96E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5E7D-6FF3-4A4C-8CF9-F4FDE340798B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3710-2FEA-4FE8-AAFB-01C3E203875A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E676-3046-4A82-A284-DF57942F5899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247C4-4399-40FF-8DED-7856E38BC760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2" descr="D:\Рабочий стол\шаблон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278" y="0"/>
            <a:ext cx="9172278" cy="51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611560" y="339502"/>
            <a:ext cx="7772400" cy="2592288"/>
          </a:xfrm>
        </p:spPr>
        <p:txBody>
          <a:bodyPr>
            <a:normAutofit/>
          </a:bodyPr>
          <a:lstStyle/>
          <a:p>
            <a:r>
              <a:rPr lang="tt-RU" dirty="0" smtClean="0"/>
              <a:t>Проектная работа на тему </a:t>
            </a:r>
            <a:r>
              <a:rPr lang="en-US" dirty="0" smtClean="0"/>
              <a:t>“</a:t>
            </a:r>
            <a:r>
              <a:rPr lang="ru-RU" dirty="0" smtClean="0"/>
              <a:t>Самостоятельное </a:t>
            </a:r>
            <a:r>
              <a:rPr lang="ru-RU" dirty="0"/>
              <a:t>изучение языков </a:t>
            </a:r>
            <a:r>
              <a:rPr lang="ru-RU" dirty="0" smtClean="0"/>
              <a:t>программирования стратегии</a:t>
            </a:r>
            <a:r>
              <a:rPr lang="ru-RU" dirty="0"/>
              <a:t>, ресурсы, </a:t>
            </a:r>
            <a:r>
              <a:rPr lang="ru-RU" dirty="0" smtClean="0"/>
              <a:t>ошибки</a:t>
            </a:r>
            <a:r>
              <a:rPr lang="en-US" dirty="0" smtClean="0"/>
              <a:t>”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5580112" y="2924916"/>
            <a:ext cx="3456384" cy="1728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Работу выполнил: </a:t>
            </a:r>
            <a:endParaRPr lang="ru-RU" sz="1400" dirty="0" smtClean="0">
              <a:latin typeface="+mj-lt"/>
              <a:ea typeface="Calibri"/>
              <a:cs typeface="Times New Roman"/>
            </a:endParaRPr>
          </a:p>
          <a:p>
            <a:pPr algn="r"/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Садыков </a:t>
            </a:r>
            <a:r>
              <a:rPr lang="ru-RU" sz="1800" dirty="0" err="1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Илҗназ</a:t>
            </a:r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 </a:t>
            </a:r>
            <a:r>
              <a:rPr lang="ru-RU" sz="1800" dirty="0" err="1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Уралович</a:t>
            </a:r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,</a:t>
            </a:r>
            <a:endParaRPr lang="ru-RU" sz="1400" dirty="0" smtClean="0">
              <a:latin typeface="+mj-lt"/>
              <a:ea typeface="Calibri"/>
              <a:cs typeface="Times New Roman"/>
            </a:endParaRPr>
          </a:p>
          <a:p>
            <a:pPr algn="r"/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студент группы ИС-252б</a:t>
            </a:r>
            <a:endParaRPr lang="ru-RU" sz="1400" dirty="0" smtClean="0">
              <a:latin typeface="+mj-lt"/>
              <a:ea typeface="Calibri"/>
              <a:cs typeface="Times New Roman"/>
            </a:endParaRPr>
          </a:p>
          <a:p>
            <a:pPr algn="r"/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Руководители:</a:t>
            </a:r>
            <a:endParaRPr lang="ru-RU" sz="1400" dirty="0" smtClean="0">
              <a:latin typeface="+mj-lt"/>
              <a:ea typeface="Calibri"/>
              <a:cs typeface="Times New Roman"/>
            </a:endParaRPr>
          </a:p>
          <a:p>
            <a:pPr algn="r"/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Усманов М. А. </a:t>
            </a:r>
            <a:r>
              <a:rPr lang="ru-RU" sz="1800" dirty="0" smtClean="0">
                <a:solidFill>
                  <a:srgbClr val="000000"/>
                </a:solidFill>
                <a:latin typeface="+mj-lt"/>
                <a:ea typeface="Calibri"/>
                <a:cs typeface="Times New Roman"/>
              </a:rPr>
              <a:t>.</a:t>
            </a:r>
            <a:endParaRPr lang="ru-RU" sz="1400" dirty="0" smtClean="0">
              <a:latin typeface="+mj-lt"/>
              <a:ea typeface="Calibri"/>
              <a:cs typeface="Times New Roman"/>
            </a:endParaRPr>
          </a:p>
          <a:p>
            <a:pPr algn="r"/>
            <a:endParaRPr lang="ru-RU" sz="11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16" y="2924916"/>
            <a:ext cx="2974726" cy="16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37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avatars.mds.yandex.net/i?id=3ba539cac3b481047fce471fa6456f6b_l-5524081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864643"/>
            <a:ext cx="3600400" cy="3600400"/>
          </a:xfrm>
          <a:prstGeom prst="rect">
            <a:avLst/>
          </a:prstGeom>
          <a:noFill/>
          <a:effectLst>
            <a:softEdge rad="647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727721"/>
            <a:ext cx="4114800" cy="4176464"/>
          </a:xfrm>
        </p:spPr>
        <p:txBody>
          <a:bodyPr>
            <a:normAutofit/>
          </a:bodyPr>
          <a:lstStyle/>
          <a:p>
            <a:pPr marL="0" indent="457200">
              <a:spcBef>
                <a:spcPts val="1200"/>
              </a:spcBef>
              <a:buNone/>
            </a:pPr>
            <a:r>
              <a:rPr lang="tt-RU" sz="2800" dirty="0" smtClean="0">
                <a:latin typeface="Calibri" panose="020F0502020204030204" pitchFamily="34" charset="0"/>
                <a:ea typeface="Gadugi" panose="020B0502040204020203" pitchFamily="34" charset="0"/>
                <a:cs typeface="Calibri" panose="020F0502020204030204" pitchFamily="34" charset="0"/>
              </a:rPr>
              <a:t>Целью моего проекта является сделать сайт, благодаря которому люди, желающие самостоятельно изучить язык(и) программирования, смогут понять как действовать. </a:t>
            </a:r>
            <a:endParaRPr lang="ru-RU" sz="2800" dirty="0">
              <a:latin typeface="Calibri" panose="020F0502020204030204" pitchFamily="34" charset="0"/>
              <a:ea typeface="Gadugi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574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544388"/>
            <a:ext cx="4752528" cy="8572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Актуальность</a:t>
            </a:r>
            <a:br>
              <a:rPr lang="ru-RU" b="1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185759"/>
            <a:ext cx="4320480" cy="3096343"/>
          </a:xfrm>
        </p:spPr>
        <p:txBody>
          <a:bodyPr>
            <a:noAutofit/>
          </a:bodyPr>
          <a:lstStyle/>
          <a:p>
            <a:pPr>
              <a:spcBef>
                <a:spcPts val="3600"/>
              </a:spcBef>
            </a:pPr>
            <a:r>
              <a:rPr lang="ru-RU" sz="1400" dirty="0"/>
              <a:t>Рост спроса на </a:t>
            </a:r>
            <a:r>
              <a:rPr lang="ru-RU" sz="1400" dirty="0" smtClean="0"/>
              <a:t>IT‑специалистов</a:t>
            </a:r>
          </a:p>
          <a:p>
            <a:pPr>
              <a:spcBef>
                <a:spcPts val="3600"/>
              </a:spcBef>
            </a:pPr>
            <a:r>
              <a:rPr lang="ru-RU" sz="1400" dirty="0" smtClean="0"/>
              <a:t>Популярность</a:t>
            </a:r>
            <a:r>
              <a:rPr lang="ru-RU" sz="1400" dirty="0"/>
              <a:t> </a:t>
            </a:r>
            <a:r>
              <a:rPr lang="ru-RU" sz="1400" dirty="0" smtClean="0"/>
              <a:t>самообразования</a:t>
            </a:r>
          </a:p>
          <a:p>
            <a:pPr>
              <a:spcBef>
                <a:spcPts val="3600"/>
              </a:spcBef>
            </a:pPr>
            <a:r>
              <a:rPr lang="ru-RU" sz="1400" dirty="0" smtClean="0"/>
              <a:t>Основные</a:t>
            </a:r>
            <a:r>
              <a:rPr lang="ru-RU" sz="1400" dirty="0"/>
              <a:t> трудности </a:t>
            </a:r>
            <a:r>
              <a:rPr lang="ru-RU" sz="1400" dirty="0" smtClean="0"/>
              <a:t>новичков</a:t>
            </a:r>
          </a:p>
          <a:p>
            <a:pPr>
              <a:spcBef>
                <a:spcPts val="3600"/>
              </a:spcBef>
            </a:pPr>
            <a:r>
              <a:rPr lang="ru-RU" sz="1400" dirty="0" smtClean="0"/>
              <a:t>Типичные</a:t>
            </a:r>
            <a:r>
              <a:rPr lang="ru-RU" sz="1400" dirty="0"/>
              <a:t> </a:t>
            </a:r>
            <a:r>
              <a:rPr lang="ru-RU" sz="1400" dirty="0" smtClean="0"/>
              <a:t>ошибки</a:t>
            </a:r>
          </a:p>
          <a:p>
            <a:pPr>
              <a:spcBef>
                <a:spcPts val="3600"/>
              </a:spcBef>
            </a:pPr>
            <a:r>
              <a:rPr lang="ru-RU" sz="1400" dirty="0" smtClean="0"/>
              <a:t>Отсутствие</a:t>
            </a:r>
            <a:r>
              <a:rPr lang="ru-RU" sz="1400" dirty="0"/>
              <a:t> единого структурированного </a:t>
            </a:r>
            <a:r>
              <a:rPr lang="ru-RU" sz="1400" dirty="0" smtClean="0"/>
              <a:t>ресурса</a:t>
            </a:r>
            <a:endParaRPr lang="ru-RU" sz="900" dirty="0"/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4572000" y="700599"/>
            <a:ext cx="4114800" cy="4066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i="1" dirty="0"/>
              <a:t>Создание информационно‑образовательного сайта позволит:</a:t>
            </a:r>
          </a:p>
          <a:p>
            <a:r>
              <a:rPr lang="ru-RU" sz="2000" b="1" i="1" dirty="0"/>
              <a:t>сократить время на поиск полезных ресурсов на 25–30 %;</a:t>
            </a:r>
          </a:p>
          <a:p>
            <a:r>
              <a:rPr lang="ru-RU" sz="2000" b="1" i="1" dirty="0"/>
              <a:t>систематизировать процесс обучения;</a:t>
            </a:r>
          </a:p>
          <a:p>
            <a:r>
              <a:rPr lang="ru-RU" sz="2000" b="1" i="1" dirty="0"/>
              <a:t>снизить количество типичных ошибок за счёт готовых разборов и рекомендаций;</a:t>
            </a:r>
          </a:p>
          <a:p>
            <a:r>
              <a:rPr lang="ru-RU" sz="2000" b="1" i="1" dirty="0"/>
              <a:t>повысить мотивацию начинающих разработчиков.</a:t>
            </a:r>
          </a:p>
          <a:p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98720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0"/>
              </a:spcBef>
            </a:pPr>
            <a:r>
              <a:rPr lang="ru-RU" dirty="0"/>
              <a:t>Проанализировать существующие ресурсы и выявить  </a:t>
            </a:r>
            <a:r>
              <a:rPr lang="ru-RU" dirty="0" smtClean="0"/>
              <a:t>         пробелы</a:t>
            </a:r>
            <a:r>
              <a:rPr lang="ru-RU" dirty="0"/>
              <a:t>.</a:t>
            </a:r>
          </a:p>
          <a:p>
            <a:pPr marL="0" indent="0">
              <a:spcBef>
                <a:spcPts val="3000"/>
              </a:spcBef>
            </a:pPr>
            <a:r>
              <a:rPr lang="ru-RU" dirty="0"/>
              <a:t>Систематизировать типичные ошибки новичков.</a:t>
            </a:r>
          </a:p>
          <a:p>
            <a:pPr marL="0" indent="0">
              <a:spcBef>
                <a:spcPts val="3000"/>
              </a:spcBef>
            </a:pPr>
            <a:r>
              <a:rPr lang="ru-RU" dirty="0"/>
              <a:t>Разработать учебные траектории для </a:t>
            </a:r>
            <a:r>
              <a:rPr lang="ru-RU" dirty="0" err="1"/>
              <a:t>Python</a:t>
            </a:r>
            <a:r>
              <a:rPr lang="ru-RU" dirty="0"/>
              <a:t>, JS, </a:t>
            </a:r>
            <a:r>
              <a:rPr lang="ru-RU" dirty="0" err="1"/>
              <a:t>Java</a:t>
            </a:r>
            <a:r>
              <a:rPr lang="ru-RU" dirty="0"/>
              <a:t>.</a:t>
            </a:r>
          </a:p>
          <a:p>
            <a:pPr marL="0" indent="0">
              <a:spcBef>
                <a:spcPts val="3000"/>
              </a:spcBef>
            </a:pPr>
            <a:r>
              <a:rPr lang="ru-RU" dirty="0"/>
              <a:t>Спроектировать прототип сайта с удобным интерфейсом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2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Объект и предмет 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Объект:</a:t>
            </a:r>
            <a:r>
              <a:rPr lang="ru-RU" dirty="0"/>
              <a:t> процесс самостоятельного освоения языков программирования начинающими разработчиками.</a:t>
            </a:r>
          </a:p>
          <a:p>
            <a:r>
              <a:rPr lang="ru-RU" b="1" dirty="0"/>
              <a:t>Предмет: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стратегии обучения;</a:t>
            </a:r>
          </a:p>
          <a:p>
            <a:pPr lvl="8"/>
            <a:r>
              <a:rPr lang="ru-RU" sz="2400" dirty="0"/>
              <a:t>образовательные ресурсы;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типичные ошибки;</a:t>
            </a:r>
          </a:p>
          <a:p>
            <a:pPr lvl="8"/>
            <a:r>
              <a:rPr lang="ru-RU" sz="2400" dirty="0"/>
              <a:t>факторы эффективности.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84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Методы 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200151"/>
            <a:ext cx="8579296" cy="3394472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1200"/>
              </a:spcBef>
              <a:buNone/>
            </a:pPr>
            <a:r>
              <a:rPr lang="ru-RU" sz="2800" b="1" dirty="0" smtClean="0"/>
              <a:t>Методы</a:t>
            </a:r>
            <a:endParaRPr lang="ru-RU" sz="2800" dirty="0"/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/>
              <a:t>опрос начинающих разработчиков</a:t>
            </a:r>
            <a:r>
              <a:rPr lang="ru-RU" dirty="0" smtClean="0"/>
              <a:t>;</a:t>
            </a:r>
            <a:endParaRPr lang="ru-RU" dirty="0"/>
          </a:p>
          <a:p>
            <a:pPr lvl="8">
              <a:spcBef>
                <a:spcPts val="1200"/>
              </a:spcBef>
            </a:pPr>
            <a:r>
              <a:rPr lang="ru-RU" sz="2400" dirty="0"/>
              <a:t>анализ онлайн‑курсов и </a:t>
            </a:r>
            <a:r>
              <a:rPr lang="ru-RU" sz="2400" dirty="0" smtClean="0"/>
              <a:t>платформ</a:t>
            </a:r>
            <a:endParaRPr lang="ru-RU" sz="2400" dirty="0"/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/>
              <a:t>разбор кейсов и ошибок в коде;</a:t>
            </a:r>
          </a:p>
          <a:p>
            <a:pPr lvl="8">
              <a:spcBef>
                <a:spcPts val="1200"/>
              </a:spcBef>
            </a:pPr>
            <a:r>
              <a:rPr lang="ru-RU" sz="2400" dirty="0" err="1"/>
              <a:t>прототипирование</a:t>
            </a:r>
            <a:r>
              <a:rPr lang="ru-RU" sz="2400" dirty="0"/>
              <a:t> интерфейса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457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Этапы </a:t>
            </a:r>
            <a:r>
              <a:rPr lang="ru-RU" b="1" dirty="0" smtClean="0"/>
              <a:t>создания сайта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2773" y="1727905"/>
            <a:ext cx="3307709" cy="6016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Планирование</a:t>
            </a:r>
            <a:r>
              <a:rPr lang="ru-RU" sz="1600" dirty="0"/>
              <a:t> </a:t>
            </a:r>
            <a:r>
              <a:rPr lang="ru-RU" sz="1600" dirty="0" smtClean="0"/>
              <a:t>(январь)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>• структура и </a:t>
            </a:r>
            <a:r>
              <a:rPr lang="ru-RU" sz="1600" dirty="0" smtClean="0"/>
              <a:t>ТЗ</a:t>
            </a: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65651" y="2643758"/>
            <a:ext cx="86409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899592" y="2433519"/>
            <a:ext cx="0" cy="322867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Объект 2"/>
          <p:cNvSpPr txBox="1">
            <a:spLocks/>
          </p:cNvSpPr>
          <p:nvPr/>
        </p:nvSpPr>
        <p:spPr>
          <a:xfrm>
            <a:off x="1259632" y="2767525"/>
            <a:ext cx="4653569" cy="5978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 smtClean="0"/>
              <a:t>Дизайн и прототип</a:t>
            </a:r>
            <a:r>
              <a:rPr lang="ru-RU" sz="1800" dirty="0" smtClean="0"/>
              <a:t> (январь-февраль)</a:t>
            </a:r>
            <a:br>
              <a:rPr lang="ru-RU" sz="1800" dirty="0" smtClean="0"/>
            </a:br>
            <a:r>
              <a:rPr lang="ru-RU" sz="1800" dirty="0" smtClean="0"/>
              <a:t>• макет и интерфейс.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3004152" y="1666785"/>
            <a:ext cx="3447923" cy="658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 smtClean="0"/>
              <a:t>Разработка</a:t>
            </a:r>
            <a:r>
              <a:rPr lang="ru-RU" sz="1800" dirty="0" smtClean="0"/>
              <a:t> (февраль-март)</a:t>
            </a:r>
            <a:br>
              <a:rPr lang="ru-RU" sz="1800" dirty="0" smtClean="0"/>
            </a:br>
            <a:r>
              <a:rPr lang="ru-RU" sz="1800" dirty="0" smtClean="0"/>
              <a:t>• вёрстка и функционал</a:t>
            </a:r>
            <a:endParaRPr lang="ru-RU" sz="1800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5364088" y="2756386"/>
            <a:ext cx="3672408" cy="936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 smtClean="0"/>
              <a:t>Запуск и тестирование</a:t>
            </a:r>
            <a:r>
              <a:rPr lang="ru-RU" sz="1800" dirty="0" smtClean="0"/>
              <a:t> (март-апрель)</a:t>
            </a:r>
            <a:br>
              <a:rPr lang="ru-RU" sz="1800" dirty="0" smtClean="0"/>
            </a:br>
            <a:r>
              <a:rPr lang="ru-RU" sz="1800" dirty="0" smtClean="0"/>
              <a:t>• проверка, обратная связь, правки.</a:t>
            </a:r>
          </a:p>
          <a:p>
            <a:endParaRPr lang="ru-RU" sz="18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2411760" y="2596106"/>
            <a:ext cx="0" cy="222673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7020272" y="2571750"/>
            <a:ext cx="0" cy="222673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V="1">
            <a:off x="4211960" y="2414469"/>
            <a:ext cx="0" cy="322867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06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 получим?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каталог проверенных </a:t>
            </a:r>
            <a:r>
              <a:rPr lang="ru-RU" dirty="0" smtClean="0"/>
              <a:t>ресурсов</a:t>
            </a:r>
            <a:endParaRPr lang="ru-RU" dirty="0"/>
          </a:p>
          <a:p>
            <a:endParaRPr lang="ru-RU" dirty="0"/>
          </a:p>
          <a:p>
            <a:pPr lvl="8"/>
            <a:r>
              <a:rPr lang="ru-RU" dirty="0"/>
              <a:t>дорожная карта по </a:t>
            </a:r>
            <a:r>
              <a:rPr lang="ru-RU" dirty="0" smtClean="0"/>
              <a:t>языкам</a:t>
            </a:r>
          </a:p>
          <a:p>
            <a:pPr lvl="8"/>
            <a:endParaRPr lang="ru-RU" dirty="0"/>
          </a:p>
          <a:p>
            <a:r>
              <a:rPr lang="ru-RU" dirty="0"/>
              <a:t>база ошибок с </a:t>
            </a:r>
            <a:r>
              <a:rPr lang="ru-RU" dirty="0" smtClean="0"/>
              <a:t>решениями</a:t>
            </a:r>
          </a:p>
          <a:p>
            <a:endParaRPr lang="ru-RU" dirty="0"/>
          </a:p>
          <a:p>
            <a:pPr lvl="8"/>
            <a:r>
              <a:rPr lang="ru-RU" dirty="0"/>
              <a:t>прототип </a:t>
            </a:r>
            <a:r>
              <a:rPr lang="ru-RU" dirty="0" smtClean="0"/>
              <a:t>сайта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2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Кому и как поможет?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000" b="1" dirty="0"/>
              <a:t>Новичкам:</a:t>
            </a:r>
            <a:r>
              <a:rPr lang="ru-RU" sz="2000" dirty="0"/>
              <a:t> чёткая структура обучения без потери времени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sz="20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ru-RU" sz="2000" b="1" dirty="0"/>
              <a:t>Самоучкам:</a:t>
            </a:r>
            <a:r>
              <a:rPr lang="ru-RU" sz="2000" dirty="0"/>
              <a:t> готовые траектории и разбор ошибок</a:t>
            </a:r>
            <a:r>
              <a:rPr lang="ru-RU" sz="2000" dirty="0" smtClean="0"/>
              <a:t>.</a:t>
            </a:r>
          </a:p>
          <a:p>
            <a:pPr lvl="3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lvl="3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lvl="3">
              <a:buFont typeface="Arial" panose="020B0604020202020204" pitchFamily="34" charset="0"/>
              <a:buChar char="•"/>
            </a:pPr>
            <a:endParaRPr lang="ru-RU" sz="2000" dirty="0"/>
          </a:p>
          <a:p>
            <a:pPr lvl="7"/>
            <a:r>
              <a:rPr lang="ru-RU" b="1" dirty="0"/>
              <a:t>Сообществу:</a:t>
            </a:r>
            <a:r>
              <a:rPr lang="ru-RU" dirty="0"/>
              <a:t> открытый ресурс для развития IT‑грамотности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Итоги и будущее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00151"/>
            <a:ext cx="3034680" cy="2379711"/>
          </a:xfrm>
        </p:spPr>
        <p:txBody>
          <a:bodyPr>
            <a:normAutofit/>
          </a:bodyPr>
          <a:lstStyle/>
          <a:p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Выводы:</a:t>
            </a:r>
            <a:endParaRPr lang="ru-RU" sz="1800" dirty="0"/>
          </a:p>
          <a:p>
            <a:pPr lvl="1"/>
            <a:r>
              <a:rPr lang="ru-RU" sz="1800" dirty="0"/>
              <a:t>сайт упростит старт в программировании;</a:t>
            </a:r>
          </a:p>
          <a:p>
            <a:pPr lvl="1"/>
            <a:r>
              <a:rPr lang="ru-RU" sz="1800" dirty="0"/>
              <a:t>систематизация знаний повышает эффективность обучения</a:t>
            </a:r>
            <a:r>
              <a:rPr lang="ru-RU" sz="1800" dirty="0" smtClean="0"/>
              <a:t>.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4860032" y="1200151"/>
            <a:ext cx="3034680" cy="23797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800" dirty="0" smtClean="0"/>
          </a:p>
          <a:p>
            <a:pPr marL="0" indent="0">
              <a:buNone/>
            </a:pPr>
            <a:r>
              <a:rPr lang="ru-RU" b="1" dirty="0"/>
              <a:t>Перспективы:</a:t>
            </a:r>
            <a:endParaRPr lang="ru-RU" dirty="0"/>
          </a:p>
          <a:p>
            <a:pPr lvl="1"/>
            <a:r>
              <a:rPr lang="ru-RU" dirty="0"/>
              <a:t>расширение на новые языки;</a:t>
            </a:r>
          </a:p>
          <a:p>
            <a:pPr lvl="1"/>
            <a:r>
              <a:rPr lang="ru-RU" dirty="0"/>
              <a:t>добавление интерактивных тренажёров;</a:t>
            </a:r>
          </a:p>
          <a:p>
            <a:pPr lvl="1"/>
            <a:r>
              <a:rPr lang="ru-RU" dirty="0"/>
              <a:t>создание сообщества 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3967287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470</Words>
  <Application>Microsoft Office PowerPoint</Application>
  <PresentationFormat>Экран (16:9)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Book Antiqua</vt:lpstr>
      <vt:lpstr>Calibri</vt:lpstr>
      <vt:lpstr>Gadugi</vt:lpstr>
      <vt:lpstr>Times New Roman</vt:lpstr>
      <vt:lpstr>Тема Office</vt:lpstr>
      <vt:lpstr>Проектная работа на тему “Самостоятельное изучение языков программирования стратегии, ресурсы, ошибки”</vt:lpstr>
      <vt:lpstr>Презентация PowerPoint</vt:lpstr>
      <vt:lpstr>Актуальность </vt:lpstr>
      <vt:lpstr>Задачи</vt:lpstr>
      <vt:lpstr>Объект и предмет исследования</vt:lpstr>
      <vt:lpstr>Методы исследования</vt:lpstr>
      <vt:lpstr>Этапы создания сайта</vt:lpstr>
      <vt:lpstr>Что получим?</vt:lpstr>
      <vt:lpstr> Кому и как поможет?</vt:lpstr>
      <vt:lpstr>Итоги и будущее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prepod</dc:creator>
  <cp:lastModifiedBy>Irunazu</cp:lastModifiedBy>
  <cp:revision>18</cp:revision>
  <dcterms:created xsi:type="dcterms:W3CDTF">2024-02-07T12:33:03Z</dcterms:created>
  <dcterms:modified xsi:type="dcterms:W3CDTF">2026-04-02T18:11:48Z</dcterms:modified>
</cp:coreProperties>
</file>